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525000" cy="9525000"/>
  <p:notesSz cx="7559675" cy="10691813"/>
  <p:embeddedFontLst>
    <p:embeddedFont>
      <p:font typeface="Bitter" panose="020B0604020202020204" charset="-52"/>
      <p:regular r:id="rId14"/>
      <p:bold r:id="rId14"/>
    </p:embeddedFont>
    <p:embeddedFont>
      <p:font typeface="Heebo" panose="020F0502020204030204" pitchFamily="2" charset="-79"/>
      <p:regular r:id="rId15"/>
      <p:bold r:id="rId15"/>
    </p:embeddedFont>
    <p:embeddedFont>
      <p:font typeface="Mukti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5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D42E50F-4BD5-4F6A-9E6A-AC71BB276F7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235325" y="1336675"/>
            <a:ext cx="3608388" cy="3608388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1007640" y="5145480"/>
            <a:ext cx="8063280" cy="420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37"/>
          </p:nvPr>
        </p:nvSpPr>
        <p:spPr>
          <a:xfrm>
            <a:off x="5709600" y="10155600"/>
            <a:ext cx="4367160" cy="536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3C94C9-A6F9-41EF-B5EB-6BC6152C55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E8470-70E3-4D07-A2C6-220272F2D3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1AA249-B705-42D4-9D0A-1F765D73FDF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0CB18-662D-4E30-9D99-E24ED3E4AA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D3BEE6-B9E6-4783-8A56-2116868C13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039981-9447-4243-98E8-B3D38CBAC4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AB8E07-FD88-4FEE-85BF-0DD50991CF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2926FB-23DD-454E-883B-7365421CB1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6EBF7E-4716-48B7-BDE7-9B5B8CED1A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AF24C6-48EA-4D6F-A0A5-7F1A7DBF25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75920" y="379800"/>
            <a:ext cx="8571960" cy="159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75920" y="2228760"/>
            <a:ext cx="8571960" cy="552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E692FA-4F19-4299-AA1E-88D54BCBFB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BC95B1-18CB-4EE5-8113-3BBE69E984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.png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Freeform 2"/>
          <p:cNvSpPr/>
          <p:nvPr/>
        </p:nvSpPr>
        <p:spPr>
          <a:xfrm>
            <a:off x="7084080" y="24570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4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75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77" name="Group 7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78" name="Freeform 8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TextBox 9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80" name="Freeform 10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Freeform 11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1488240" y="3979800"/>
            <a:ext cx="6548040" cy="64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5287"/>
              </a:lnSpc>
            </a:pPr>
            <a:r>
              <a:rPr lang="en-US" sz="37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ДМИТРИЙ МОРОРЕНКО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2543040" y="4989240"/>
            <a:ext cx="4438440" cy="204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260"/>
              </a:lnSpc>
            </a:pPr>
            <a:r>
              <a:rPr lang="en-US" sz="23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на тему: «Разработка настольного приложения «Календарь событий» на языке Python»</a:t>
            </a:r>
            <a:endParaRPr lang="en-US" sz="2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6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Freeform 14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Freeform 15"/>
          <p:cNvSpPr/>
          <p:nvPr/>
        </p:nvSpPr>
        <p:spPr>
          <a:xfrm>
            <a:off x="-1204560" y="77472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7" y="0"/>
                </a:lnTo>
                <a:lnTo>
                  <a:pt x="2617477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eform 2"/>
          <p:cNvSpPr/>
          <p:nvPr/>
        </p:nvSpPr>
        <p:spPr>
          <a:xfrm>
            <a:off x="-1204560" y="77472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7" y="0"/>
                </a:lnTo>
                <a:lnTo>
                  <a:pt x="2617477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3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Freeform 4"/>
          <p:cNvSpPr/>
          <p:nvPr/>
        </p:nvSpPr>
        <p:spPr>
          <a:xfrm>
            <a:off x="7084080" y="24570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9" name="Group 5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90" name="Freeform 6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TextBox 7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92" name="Freeform 8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Freeform 9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1413000" y="3324600"/>
            <a:ext cx="4155840" cy="70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2577"/>
              </a:lnSpc>
            </a:pPr>
            <a:r>
              <a:rPr lang="en-US" sz="18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ВВЕДЕНИЕ: ПРОБЛЕМА И АКТУАЛЬНОСТЬ</a:t>
            </a:r>
            <a:endParaRPr lang="en-US" sz="18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37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1413000" y="4032360"/>
            <a:ext cx="6623280" cy="37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Проблема: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Большинство современных календарных сервисов (Google Calendar, Outlook, Яндекс.Календарь) требуют: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Постоянного подключения к интернету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Создания учётной записи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Предоставления личных данных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Интерфейсы этих сервисов перегружены функциями: напоминания, приглашения, общие календари, интеграция с почтой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Рядовому пользователю часто нужна только одна функция: записать дело на дату и посмотреть его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Актуальность: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Существует потребность в максимально простом, офлайн-инструменте для ведения личного календаря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Приложение решает конкретную задачу без лишних затрат времени на освоение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Является хорошим учебным примером для демонстрации навыков: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Разработки GUI-приложений на Python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Работы с файловой системой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000" lvl="1" indent="-121320" algn="just" defTabSz="914400">
              <a:lnSpc>
                <a:spcPts val="157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Организации структуры проекта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1576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Freeform 2"/>
          <p:cNvSpPr/>
          <p:nvPr/>
        </p:nvSpPr>
        <p:spPr>
          <a:xfrm>
            <a:off x="-1204560" y="77472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7" y="0"/>
                </a:lnTo>
                <a:lnTo>
                  <a:pt x="2617477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3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reeform 4"/>
          <p:cNvSpPr/>
          <p:nvPr/>
        </p:nvSpPr>
        <p:spPr>
          <a:xfrm>
            <a:off x="7084080" y="24570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reeform 5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Group 6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01" name="Freeform 7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TextBox 8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03" name="Group 9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104" name="Freeform 10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TextBox 11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06" name="Freeform 12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reeform 13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4"/>
          <p:cNvSpPr/>
          <p:nvPr/>
        </p:nvSpPr>
        <p:spPr>
          <a:xfrm>
            <a:off x="1488240" y="905040"/>
            <a:ext cx="6698520" cy="88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3572"/>
              </a:lnSpc>
            </a:pPr>
            <a:r>
              <a:rPr lang="en-US" sz="25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ЦЕЛЬ И ЗАДАЧИ ПРОЕКТА</a:t>
            </a:r>
            <a:endParaRPr lang="en-US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572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650520" y="1582200"/>
            <a:ext cx="8223480" cy="39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440"/>
              </a:lnSpc>
            </a:pPr>
            <a:r>
              <a:rPr lang="en-US" sz="1030" b="0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Цель про</a:t>
            </a: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екта: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Разработать кроссплатформенное десктопное приложение на Python для ведения личного календаря событий с графическим интерфейсом, работающее полностью в офлайн-режиме и использующее файловое хранение данных.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Задачи проекта: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Провести анализ предметной области и определить функциональные требования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Выбрать технологии, обосновать их выбор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Разработать графический интерфейс с использованием Tkinter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Реализовать логику добавления событий с проверкой ввода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Реализовать просмотр событий по выбранной дате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Организовать сохранение данных в JSON-файл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Составить сценарии тестирования и провести тестирование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r>
              <a:rPr lang="en-US" sz="1030" b="1" u="none" strike="noStrike">
                <a:solidFill>
                  <a:srgbClr val="2E2C2B"/>
                </a:solidFill>
                <a:effectLst/>
                <a:uFillTx/>
                <a:latin typeface="Mukti"/>
                <a:ea typeface="Mukti"/>
              </a:rPr>
              <a:t>Подготовить отчёт и презентацию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4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2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13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5" name="Freeform 7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8"/>
          <p:cNvSpPr/>
          <p:nvPr/>
        </p:nvSpPr>
        <p:spPr>
          <a:xfrm>
            <a:off x="1413000" y="827640"/>
            <a:ext cx="6698520" cy="67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2843"/>
              </a:lnSpc>
            </a:pPr>
            <a:r>
              <a:rPr lang="en-US" sz="2029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ФУНКЦИОНАЛЬНЫЕ ТРЕБОВАНИЯ (ФТ)</a:t>
            </a:r>
            <a:endParaRPr lang="en-US" sz="202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262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9"/>
          <p:cNvSpPr/>
          <p:nvPr/>
        </p:nvSpPr>
        <p:spPr>
          <a:xfrm>
            <a:off x="769680" y="1157040"/>
            <a:ext cx="7619760" cy="51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ФТ-1: ПРИЛОЖЕНИЕ ДОЛЖНО ОТОБРАЖАТЬ ИНТЕРАКТИВНЫЙ КАЛЕНДАРЬ С ВОЗМОЖНОСТЬЮ ВЫБОРА ДАТЫ. ФОРМАТ ОТОБРАЖЕНИЯ — СТАНДАРТНЫЙ ГРИД (СЕТКА) С ДНЯМИ МЕСЯЦА.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ФТ-2: ПРИЛОЖЕНИЕ ДОЛЖНО ПРЕДОСТАВЛЯТЬ ТЕКСТОВОЕ ПОЛЕ ДЛЯ ВВОДА ОПИСАНИЯ СОБЫТИЯ. ПОЛЕ ДОЛЖНО БЫТЬ ДОСТАТОЧНО ШИРОКИМ ДЛЯ ВВОДА ДЛИННЫХ НАЗВАНИЙ (НЕ МЕНЕЕ 40 СИМВОЛОВ).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ФТ-3: ПРИ НАЖАТИИ НА КНОПКУ «СОХРАНИТЬ СОБЫТИЕ» ПРОГРАММА ДОЛЖНА: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ПОЛУЧИТЬ ВЫБРАННУЮ ДАТУ ИЗ КАЛЕНДАРЯ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ПОЛУЧИТЬ ТЕКСТ СОБЫТИЯ ИЗ ПОЛЯ ВВОДА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ПРИВЯЗАТЬ СОБЫТИЕ К ВЫБРАННОЙ ДАТЕ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ДОБАВИТЬ СОБЫТИЕ В ОБЩИЙ СПИСОК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ФТ-4: ПРИ ПОПЫТКЕ СОХРАНИТЬ ПУСТОЕ ОПИСАНИЕ ПРОГРАММА ДОЛЖНА: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НЕ СОХРАНЯТЬ ЗАПИСЬ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ВЫВЕСТИ ДИАЛОГОВОЕ ОКНО С ПРЕДУПРЕЖДЕНИЕМ «ВВЕДИТЕ ОПИСАНИЕ СОБЫТИЯ!»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ФТ-5: НА ОДНУ ДАТУ МОЖНО СОХРАНЯТЬ НЕОГРАНИЧЕННОЕ КОЛИЧЕСТВО СОБЫТИЙ. НОВЫЕ СОБЫТИЯ ДОБАВЛЯЮТСЯ В КОНЕЦ СПИСКА.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ФТ-6: ПРИ НАЖАТИИ НА КНОПКУ «ПОКАЗАТЬ СОБЫТИЯ» ПРОГРАММА ДОЛЖНА: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ПОЛУЧИТЬ ВЫБРАННУЮ ДАТУ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НАЙТИ ВСЕ СОБЫТИЯ ДЛЯ ЭТОЙ ДАТЫ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6240" lvl="1" indent="-123120" algn="ctr" defTabSz="914400">
              <a:lnSpc>
                <a:spcPts val="1596"/>
              </a:lnSpc>
              <a:buClr>
                <a:srgbClr val="2E2C2B"/>
              </a:buClr>
              <a:buFont typeface="Arial"/>
              <a:buChar char="•"/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ОТОБРАЗИТЬ ИХ В ТЕКСТОВОМ ПОЛЕ В ВИДЕ ПРОНУМЕРОВАННОГО СПИСКА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ФТ-7: ЕСЛИ НА ВЫБРАННУЮ ДАТУ НЕТ СОБЫТИЙ, ПРОГРАММА ДОЛЖНА ВЫВОДИТЬ СООБЩЕНИЕ: «НА [ДАТА] СОБЫТИЙ НЕТ».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ФТ-8: ВСЕ СОБЫТИЯ ДОЛЖНЫ АВТОМАТИЧЕСКИ СОХРАНЯТЬСЯ В ФАЙЛ EVENTS.JSON СРАЗУ ПОСЛЕ ДОБАВЛЕНИЯ. ПОТЕРЯ ДАННЫХ ПРИ ЗАКРЫТИИ ПРИЛОЖЕНИЯ ИСКЛЮЧЕНА.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r>
              <a:rPr lang="en-US" sz="114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ФТ-9: ПРИ ЗАПУСКЕ ПРИЛОЖЕНИЯ ПРОГРАММА ДОЛЖНА АВТОМАТИЧЕСКИ ЗАГРУЖАТЬ РАНЕЕ СОХРАНЁННЫЕ СОБЫТИЯ ИЗ ФАЙЛА EVENTS.JSON.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96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2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9" name="Group 3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20" name="Freeform 4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5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22" name="Freeform 6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7"/>
          <p:cNvSpPr/>
          <p:nvPr/>
        </p:nvSpPr>
        <p:spPr>
          <a:xfrm>
            <a:off x="1928520" y="905040"/>
            <a:ext cx="5751360" cy="150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НЕФУНКЦИОНАЛЬНЫЕ ТРЕБОВАНИЯ (НФТ)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34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129240" y="1879560"/>
            <a:ext cx="9349920" cy="502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№ТРЕБОВАНИЕОПИСАНИЕ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КРОССПЛАТФОРМЕННОСТЬ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ПРИЛОЖЕНИЕ ДОЛЖНО РАБОТАТЬ НА WINDOWS, LINUX И MACOS ПРИ НАЛИЧИИ PYTHON 3 И TKINTER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ОФЛАЙН-РАБОТА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ПРИЛОЖЕНИЕ НЕ ТРЕБУЕТ ПОДКЛЮЧЕНИЯ К ИНТЕРНЕТУ ДЛЯ ВЫПОЛНЕНИЯ ВСЕХ ФУНКЦИЙ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ПРОИЗВОДИТЕЛЬНОСТЬ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ВРЕМЯ ОТКЛИКА ИНТЕРФЕЙСА — МГНОВЕННОЕ (&lt; 100 МС), ВСЕ ОПЕРАЦИИ ЛОКАЛЬНЫЕ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НФТ-4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ЛОКАЛИЗАЦИЯ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ИНТЕРФЕЙС НА РУССКОМ ЯЗЫКЕ, ПОНЯТНЫЙ ПОЛЬЗОВАТЕЛЮ БЕЗ ТЕХНИЧЕСКОЙ ПОДГОТОВКИ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НФТ-5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РЕСУРСОЁМКОСТЬ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ПРИЛОЖЕНИЕ ИСПОЛЬЗУЕТ МИНИМУМ РЕСУРСОВ — НЕ БОЛЕЕ 50 МБ ОЗУ, НЕ ИСПОЛЬЗУЕТ СУБД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НФТ-6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СОХРАННОСТЬ ДАННЫХ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ДАННЫЕ СОХРАНЯЮТСЯ В ОТКРЫТОМ JSON-ФОРМАТЕ — ПОЛЬЗОВАТЕЛЬ МОЖЕТ РЕДАКТИРОВАТЬ ФАЙЛ ВРУЧНУЮ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НФТ-7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ПРОСТОТА ЗАПУСКА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r>
              <a:rPr lang="en-US" sz="125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ЗАПУСК — ЧЕРЕЗ PYTHON MAIN.PY, НЕ ТРЕБУЕТ УСТАНОВКИ ДОПОЛНИТЕЛЬНЫХ МОДУЛЕЙ (КРОМЕ TKCALENDAR)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752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7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28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30" name="Freeform 7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1928520" y="174960"/>
            <a:ext cx="5751360" cy="150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ОБОСНОВАНИЕ ВЫБОРА ТЕХНОЛОГИЙ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34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535680" y="1653840"/>
            <a:ext cx="104184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ТЕХНОЛОГИЯ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535680" y="2116440"/>
            <a:ext cx="70236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Bold"/>
                <a:ea typeface="Heebo Bold"/>
              </a:rPr>
              <a:t>PYTHON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535680" y="2947320"/>
            <a:ext cx="72612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TKINTER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535680" y="3778920"/>
            <a:ext cx="112500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TKCALENDAR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535680" y="4415400"/>
            <a:ext cx="45360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JSON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2440800" y="1653840"/>
            <a:ext cx="57816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0" u="none" strike="noStrike">
                <a:solidFill>
                  <a:srgbClr val="2E2C2B"/>
                </a:solidFill>
                <a:effectLst/>
                <a:uFillTx/>
                <a:latin typeface="Heebo"/>
                <a:ea typeface="Heebo"/>
              </a:rPr>
              <a:t>ВЕРСИЯ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3775680" y="1680120"/>
            <a:ext cx="96948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539"/>
              </a:lnSpc>
            </a:pPr>
            <a:r>
              <a:rPr lang="en-US" sz="110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НАЗНАЧЕНИЕ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6368400" y="1663200"/>
            <a:ext cx="1788120" cy="18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539"/>
              </a:lnSpc>
            </a:pPr>
            <a:r>
              <a:rPr lang="en-US" sz="110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АРГУМЕНТАЦИЯ ВЫБОРА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2440800" y="2116440"/>
            <a:ext cx="45324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3.10+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18"/>
          <p:cNvSpPr/>
          <p:nvPr/>
        </p:nvSpPr>
        <p:spPr>
          <a:xfrm>
            <a:off x="3272760" y="2116440"/>
            <a:ext cx="2612880" cy="23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936"/>
              </a:lnSpc>
            </a:pPr>
            <a:r>
              <a:rPr lang="en-US" sz="13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ЯЗЫК ПРОГРАММИРОВАНИЯ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6267240" y="2126160"/>
            <a:ext cx="2957760" cy="75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517"/>
              </a:lnSpc>
            </a:pPr>
            <a:r>
              <a:rPr lang="en-US" sz="10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ЗАДАН В УЧЕБНОЙ ПРОГРАММЕ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17"/>
              </a:lnSpc>
            </a:pPr>
            <a:r>
              <a:rPr lang="en-US" sz="10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КРОССПЛАТФОРМЕННЫЙ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17"/>
              </a:lnSpc>
            </a:pPr>
            <a:r>
              <a:rPr lang="en-US" sz="10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ОБШИРНАЯ СТАНДАРТНАЯ БИБЛИОТЕКА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517"/>
              </a:lnSpc>
            </a:pPr>
            <a:r>
              <a:rPr lang="en-US" sz="10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ПОНЯТНЫЙ СИНТАКСИС</a:t>
            </a:r>
            <a:endParaRPr lang="en-US" sz="10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0"/>
          <p:cNvSpPr/>
          <p:nvPr/>
        </p:nvSpPr>
        <p:spPr>
          <a:xfrm>
            <a:off x="2178720" y="2956680"/>
            <a:ext cx="1102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ВСТРОЕН В PYTHON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1"/>
          <p:cNvSpPr/>
          <p:nvPr/>
        </p:nvSpPr>
        <p:spPr>
          <a:xfrm>
            <a:off x="3759480" y="2931120"/>
            <a:ext cx="985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ПОСТРОЕНИЕ GUI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2"/>
          <p:cNvSpPr/>
          <p:nvPr/>
        </p:nvSpPr>
        <p:spPr>
          <a:xfrm>
            <a:off x="5387400" y="2931120"/>
            <a:ext cx="4137480" cy="59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ВХОДИТ В СТАНДАРТНУЮ БИБЛИОТЕКУ (НЕ ТРЕБУЕТ УСТАНОВКИ)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КРОССПЛАТФОРМЕННЫЙ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ДОСТАТОЧНО МОЩНЫЙ ДЛЯ СОЗДАНИЯ НЕБОЛЬШОГО ПРИЛОЖЕНИЯ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СООТВЕТСТВУЕТ ТРЕБОВАНИЮ «НЕ ОТПРАВЛЯЕМ В КОНСОЛЬ»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3"/>
          <p:cNvSpPr/>
          <p:nvPr/>
        </p:nvSpPr>
        <p:spPr>
          <a:xfrm>
            <a:off x="2440800" y="3826440"/>
            <a:ext cx="264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1.6.1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4"/>
          <p:cNvSpPr/>
          <p:nvPr/>
        </p:nvSpPr>
        <p:spPr>
          <a:xfrm>
            <a:off x="2882160" y="3764520"/>
            <a:ext cx="1617120" cy="2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ВИДЖЕТ КАЛЕНДАРЯ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5"/>
          <p:cNvSpPr/>
          <p:nvPr/>
        </p:nvSpPr>
        <p:spPr>
          <a:xfrm>
            <a:off x="4500000" y="3677760"/>
            <a:ext cx="5024520" cy="57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148"/>
              </a:lnSpc>
            </a:pPr>
            <a:r>
              <a:rPr lang="en-US" sz="82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ГОТОВЫЙ КОМПОНЕНТ С ВЫБОРОМ ДАТЫ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48"/>
              </a:lnSpc>
            </a:pPr>
            <a:r>
              <a:rPr lang="en-US" sz="82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ЭКОНОМИТ ВРЕМЯ РАЗРАБОТКИ (НЕ НУЖНО ПИСАТЬ ЛОГИКУ ОТОБРАЖЕНИЯ ДНЕЙ МЕСЯЦА)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48"/>
              </a:lnSpc>
            </a:pPr>
            <a:r>
              <a:rPr lang="en-US" sz="82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ПОДДЕРЖИВАЕТ РУССКУЮ ЛОКАЛИЗАЦИЮ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148"/>
              </a:lnSpc>
            </a:pPr>
            <a:r>
              <a:rPr lang="en-US" sz="82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ФОРМАТ ДАТЫ YYYY-MM-DD СТАНДАРТИЗИРОВАН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6"/>
          <p:cNvSpPr/>
          <p:nvPr/>
        </p:nvSpPr>
        <p:spPr>
          <a:xfrm>
            <a:off x="2116080" y="4462920"/>
            <a:ext cx="110232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ВСТРОЕН В PYTHON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7"/>
          <p:cNvSpPr/>
          <p:nvPr/>
        </p:nvSpPr>
        <p:spPr>
          <a:xfrm>
            <a:off x="3659040" y="4462920"/>
            <a:ext cx="11448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ХРАНЕНИЕ ДАННЫХ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8"/>
          <p:cNvSpPr/>
          <p:nvPr/>
        </p:nvSpPr>
        <p:spPr>
          <a:xfrm>
            <a:off x="5242680" y="4424760"/>
            <a:ext cx="4339080" cy="74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ВСТРОЕННЫЙ МОДУЛЬ JSON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Человекочитаемый формат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ЛЕГКО ПАРСИТСЯ И РЕДАКТИРУЕТСЯ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ДЛЯ ОБЪЁМА ДАННЫХ ОДНОГО ПОЛЬЗОВАТЕЛЯ СУБД ИЗБЫТОЧНА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236"/>
              </a:lnSpc>
            </a:pPr>
            <a:r>
              <a:rPr lang="en-US" sz="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• СТРУКТУРА «ДАТА → СПИСОК СОБЫТИЙ» ЕСТЕСТВЕННО ЛОЖИТСЯ НА JSON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54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55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57" name="Group 7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158" name="Freeform 8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TextBox 9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60" name="Freeform 10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Freeform 11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Freeform 12"/>
          <p:cNvSpPr/>
          <p:nvPr/>
        </p:nvSpPr>
        <p:spPr>
          <a:xfrm>
            <a:off x="2422800" y="3850200"/>
            <a:ext cx="4679280" cy="4662360"/>
          </a:xfrm>
          <a:custGeom>
            <a:avLst/>
            <a:gdLst>
              <a:gd name="textAreaLeft" fmla="*/ 0 w 4679280"/>
              <a:gd name="textAreaRight" fmla="*/ 4679640 w 4679280"/>
              <a:gd name="textAreaTop" fmla="*/ 0 h 4662360"/>
              <a:gd name="textAreaBottom" fmla="*/ 4662720 h 4662360"/>
            </a:gdLst>
            <a:ahLst/>
            <a:cxnLst/>
            <a:rect l="textAreaLeft" t="textAreaTop" r="textAreaRight" b="textAreaBottom"/>
            <a:pathLst>
              <a:path w="4679530" h="4662783">
                <a:moveTo>
                  <a:pt x="0" y="0"/>
                </a:moveTo>
                <a:lnTo>
                  <a:pt x="4679530" y="0"/>
                </a:lnTo>
                <a:lnTo>
                  <a:pt x="4679530" y="4662783"/>
                </a:lnTo>
                <a:lnTo>
                  <a:pt x="0" y="46627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1094400" y="905040"/>
            <a:ext cx="7336080" cy="99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ИНТЕРФЕЙС ПРИЛОЖЕНИЯ 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34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1008000" y="1702800"/>
            <a:ext cx="7142760" cy="188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ОПИСАНИЕ ИНТЕРФЕЙСА: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Заголовок — «Календарь событий»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Виджет календаря — интерактивный выбор даты (tkcalendar)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Поле ввода события — текстовое поле шириной 40 символов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Кнопка «Сохранить событие» — добавление события для выбранной даты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Кнопка «Показать события» — отображение всех событий для выбранной даты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ТЕКСТОВОЕ ПОЛЕ ВЫВОДА — СПИСОК СОБЫТИЙ ИЛИ СООБЩЕНИЕ ОБ ИХ ОТСУТСТВИИ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5240" lvl="1" indent="-127800" algn="ctr" defTabSz="914400">
              <a:lnSpc>
                <a:spcPts val="1655"/>
              </a:lnSpc>
              <a:buClr>
                <a:srgbClr val="2E2C2B"/>
              </a:buClr>
              <a:buFont typeface="OpenSymbol"/>
              <a:buAutoNum type="arabicPeriod"/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РАЗМЕР ОКНА — 500×500 ПИКСЕЛЕЙ (ФИКСИРОВАННЫЙ)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68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70" name="Freeform 7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8"/>
          <p:cNvSpPr/>
          <p:nvPr/>
        </p:nvSpPr>
        <p:spPr>
          <a:xfrm>
            <a:off x="5066280" y="5442840"/>
            <a:ext cx="4128480" cy="4371840"/>
          </a:xfrm>
          <a:custGeom>
            <a:avLst/>
            <a:gdLst>
              <a:gd name="textAreaLeft" fmla="*/ 0 w 4128480"/>
              <a:gd name="textAreaRight" fmla="*/ 4128840 w 4128480"/>
              <a:gd name="textAreaTop" fmla="*/ 0 h 4371840"/>
              <a:gd name="textAreaBottom" fmla="*/ 4372200 h 4371840"/>
            </a:gdLst>
            <a:ahLst/>
            <a:cxnLst/>
            <a:rect l="textAreaLeft" t="textAreaTop" r="textAreaRight" b="textAreaBottom"/>
            <a:pathLst>
              <a:path w="4128901" h="4372271">
                <a:moveTo>
                  <a:pt x="0" y="0"/>
                </a:moveTo>
                <a:lnTo>
                  <a:pt x="4128901" y="0"/>
                </a:lnTo>
                <a:lnTo>
                  <a:pt x="4128901" y="4372271"/>
                </a:lnTo>
                <a:lnTo>
                  <a:pt x="0" y="437227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Freeform 9"/>
          <p:cNvSpPr/>
          <p:nvPr/>
        </p:nvSpPr>
        <p:spPr>
          <a:xfrm>
            <a:off x="663840" y="5442840"/>
            <a:ext cx="4043520" cy="4245480"/>
          </a:xfrm>
          <a:custGeom>
            <a:avLst/>
            <a:gdLst>
              <a:gd name="textAreaLeft" fmla="*/ 0 w 4043520"/>
              <a:gd name="textAreaRight" fmla="*/ 4043880 w 4043520"/>
              <a:gd name="textAreaTop" fmla="*/ 0 h 4245480"/>
              <a:gd name="textAreaBottom" fmla="*/ 4245840 h 4245480"/>
            </a:gdLst>
            <a:ahLst/>
            <a:cxnLst/>
            <a:rect l="textAreaLeft" t="textAreaTop" r="textAreaRight" b="textAreaBottom"/>
            <a:pathLst>
              <a:path w="4043737" h="4245924">
                <a:moveTo>
                  <a:pt x="0" y="0"/>
                </a:moveTo>
                <a:lnTo>
                  <a:pt x="4043737" y="0"/>
                </a:lnTo>
                <a:lnTo>
                  <a:pt x="4043737" y="4245924"/>
                </a:lnTo>
                <a:lnTo>
                  <a:pt x="0" y="42459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10"/>
          <p:cNvSpPr/>
          <p:nvPr/>
        </p:nvSpPr>
        <p:spPr>
          <a:xfrm>
            <a:off x="1928520" y="905040"/>
            <a:ext cx="5751360" cy="99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ТЕСТИРОВАНИЕ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34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-88200" y="1672560"/>
            <a:ext cx="5547960" cy="376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СЦЕНАРИЙ №1: ДОБАВЛЕНИЕ СОБЫТИЯ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ШагДействие пользователяОжидаемый результатФакт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1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Запустить приложение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Выбрать дату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3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Ввести "Сдать курсовую"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ТЕКСТ В ПОЛЕ ВВОДА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4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НАЖАТЬ "СОХРАНИТЬ СОБЫТИЕ"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ПОЯВЛЯЕТСЯ СООБЩЕНИЕ "СОБЫТИЕ ДОБАВЛЕНО НА..."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5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ЗАКРЫТЬ ПРИЛОЖЕНИЕ И ОТКРЫТЬ СНОВА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ДАТА С СОХРАНЁННЫМ СОБЫТИЕМ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5066280" y="1672560"/>
            <a:ext cx="4782960" cy="314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СЦЕНАРИЙ №2: ПРОСМОТР СОБЫТИЙ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ШагДЕЙСТВИЕ ПОЛЬЗОВАТЕЛЯОЖИДАЕМЫЙ РЕЗУЛЬТАТФАКТ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1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ВЫБРАТЬ ДАТУ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2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НАЖАТЬ "ПОКАЗАТЬ СОБЫТИЯ"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 ТЕКСТОВОМ ПОЛЕ СПИСОК: "1. СДАТЬ КУРСОВУЮ"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3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ВЫБРАТЬ ДАТУ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4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НАЖАТЬ "ПОКАЗАТЬ СОБЫТИЯ"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r>
              <a:rPr lang="en-US" sz="11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В ТЕКСТОВОМ ПОЛЕ: "НА 2026-06-18 СОБЫТИЙ НЕТ"</a:t>
            </a:r>
            <a:endParaRPr lang="en-US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655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179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181" name="Group 7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182" name="Freeform 8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TextBox 9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84" name="Freeform 10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Freeform 11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2"/>
          <p:cNvSpPr/>
          <p:nvPr/>
        </p:nvSpPr>
        <p:spPr>
          <a:xfrm>
            <a:off x="1886400" y="905040"/>
            <a:ext cx="5751360" cy="99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Heavy"/>
                <a:ea typeface="Heebo Heavy"/>
              </a:rPr>
              <a:t>ТЕСТИРОВАНИЕ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034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Freeform 13"/>
          <p:cNvSpPr/>
          <p:nvPr/>
        </p:nvSpPr>
        <p:spPr>
          <a:xfrm>
            <a:off x="44640" y="3156120"/>
            <a:ext cx="4534560" cy="4840200"/>
          </a:xfrm>
          <a:custGeom>
            <a:avLst/>
            <a:gdLst>
              <a:gd name="textAreaLeft" fmla="*/ 0 w 4534560"/>
              <a:gd name="textAreaRight" fmla="*/ 4534920 w 4534560"/>
              <a:gd name="textAreaTop" fmla="*/ 0 h 4840200"/>
              <a:gd name="textAreaBottom" fmla="*/ 4840560 h 4840200"/>
            </a:gdLst>
            <a:ahLst/>
            <a:cxnLst/>
            <a:rect l="textAreaLeft" t="textAreaTop" r="textAreaRight" b="textAreaBottom"/>
            <a:pathLst>
              <a:path w="4534997" h="4840416">
                <a:moveTo>
                  <a:pt x="0" y="0"/>
                </a:moveTo>
                <a:lnTo>
                  <a:pt x="4534997" y="0"/>
                </a:lnTo>
                <a:lnTo>
                  <a:pt x="4534997" y="4840415"/>
                </a:lnTo>
                <a:lnTo>
                  <a:pt x="0" y="484041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Freeform 14"/>
          <p:cNvSpPr/>
          <p:nvPr/>
        </p:nvSpPr>
        <p:spPr>
          <a:xfrm>
            <a:off x="4762440" y="3135600"/>
            <a:ext cx="4584240" cy="4860360"/>
          </a:xfrm>
          <a:custGeom>
            <a:avLst/>
            <a:gdLst>
              <a:gd name="textAreaLeft" fmla="*/ 0 w 4584240"/>
              <a:gd name="textAreaRight" fmla="*/ 4584600 w 4584240"/>
              <a:gd name="textAreaTop" fmla="*/ 0 h 4860360"/>
              <a:gd name="textAreaBottom" fmla="*/ 4860720 h 4860360"/>
            </a:gdLst>
            <a:ahLst/>
            <a:cxnLst/>
            <a:rect l="textAreaLeft" t="textAreaTop" r="textAreaRight" b="textAreaBottom"/>
            <a:pathLst>
              <a:path w="4584647" h="4860831">
                <a:moveTo>
                  <a:pt x="0" y="0"/>
                </a:moveTo>
                <a:lnTo>
                  <a:pt x="4584647" y="0"/>
                </a:lnTo>
                <a:lnTo>
                  <a:pt x="4584647" y="4860830"/>
                </a:lnTo>
                <a:lnTo>
                  <a:pt x="0" y="486083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516600" y="732600"/>
            <a:ext cx="5218920" cy="553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850" b="1" u="none" strike="noStrike" dirty="0" err="1">
                <a:effectLst/>
                <a:uFillTx/>
                <a:latin typeface="Outfit Bold"/>
                <a:ea typeface="Outfit Bold"/>
              </a:rPr>
              <a:t>Сводная</a:t>
            </a:r>
            <a:r>
              <a:rPr lang="en-US" sz="1850" b="1" u="none" strike="noStrike" dirty="0">
                <a:effectLst/>
                <a:uFillTx/>
                <a:latin typeface="Outfit Bold"/>
                <a:ea typeface="Outfit Bold"/>
              </a:rPr>
              <a:t> </a:t>
            </a:r>
            <a:r>
              <a:rPr lang="en-US" sz="1850" b="1" u="none" strike="noStrike" dirty="0" err="1">
                <a:effectLst/>
                <a:uFillTx/>
                <a:latin typeface="Outfit Bold"/>
                <a:ea typeface="Outfit Bold"/>
              </a:rPr>
              <a:t>таблица</a:t>
            </a:r>
            <a:r>
              <a:rPr lang="en-US" sz="1850" b="1" u="none" strike="noStrike" dirty="0">
                <a:effectLst/>
                <a:uFillTx/>
                <a:latin typeface="Outfit Bold"/>
                <a:ea typeface="Outfit Bold"/>
              </a:rPr>
              <a:t> </a:t>
            </a:r>
            <a:r>
              <a:rPr lang="en-US" sz="1850" b="1" u="none" strike="noStrike" dirty="0" err="1">
                <a:effectLst/>
                <a:uFillTx/>
                <a:latin typeface="Outfit Bold"/>
                <a:ea typeface="Outfit Bold"/>
              </a:rPr>
              <a:t>ключевых</a:t>
            </a:r>
            <a:r>
              <a:rPr lang="en-US" sz="1850" b="1" u="none" strike="noStrike" dirty="0">
                <a:effectLst/>
                <a:uFillTx/>
                <a:latin typeface="Outfit Bold"/>
                <a:ea typeface="Outfit Bold"/>
              </a:rPr>
              <a:t> </a:t>
            </a:r>
            <a:r>
              <a:rPr lang="en-US" sz="1850" b="1" u="none" strike="noStrike" dirty="0" err="1">
                <a:effectLst/>
                <a:uFillTx/>
                <a:latin typeface="Outfit Bold"/>
                <a:ea typeface="Outfit Bold"/>
              </a:rPr>
              <a:t>свойств</a:t>
            </a:r>
            <a:endParaRPr lang="en-US" sz="185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90" name="Shape 1"/>
          <p:cNvSpPr/>
          <p:nvPr/>
        </p:nvSpPr>
        <p:spPr>
          <a:xfrm>
            <a:off x="516600" y="1659960"/>
            <a:ext cx="8491320" cy="6594120"/>
          </a:xfrm>
          <a:prstGeom prst="roundRect">
            <a:avLst>
              <a:gd name="adj" fmla="val 504"/>
            </a:avLst>
          </a:prstGeom>
          <a:noFill/>
          <a:ln w="4763">
            <a:solidFill>
              <a:srgbClr val="FFFFFF">
                <a:alpha val="24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521280" y="166860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3"/>
          <p:cNvSpPr/>
          <p:nvPr/>
        </p:nvSpPr>
        <p:spPr>
          <a:xfrm>
            <a:off x="521640" y="1668600"/>
            <a:ext cx="2120040" cy="567360"/>
          </a:xfrm>
          <a:prstGeom prst="rect">
            <a:avLst/>
          </a:prstGeom>
          <a:solidFill>
            <a:srgbClr val="9FA5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646200" y="178920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72525"/>
                </a:solidFill>
                <a:effectLst/>
                <a:uFillTx/>
                <a:latin typeface="Bitter"/>
                <a:ea typeface="Bitter"/>
              </a:rPr>
              <a:t>Критерий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5"/>
          <p:cNvSpPr/>
          <p:nvPr/>
        </p:nvSpPr>
        <p:spPr>
          <a:xfrm>
            <a:off x="2642040" y="1668600"/>
            <a:ext cx="2120040" cy="567360"/>
          </a:xfrm>
          <a:prstGeom prst="rect">
            <a:avLst/>
          </a:prstGeom>
          <a:solidFill>
            <a:srgbClr val="9FA5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2769120" y="178920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72525"/>
                </a:solidFill>
                <a:effectLst/>
                <a:uFillTx/>
                <a:latin typeface="Bitter"/>
                <a:ea typeface="Bitter"/>
              </a:rPr>
              <a:t>Данный проект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7"/>
          <p:cNvSpPr/>
          <p:nvPr/>
        </p:nvSpPr>
        <p:spPr>
          <a:xfrm>
            <a:off x="4762080" y="1668600"/>
            <a:ext cx="2120040" cy="567360"/>
          </a:xfrm>
          <a:prstGeom prst="rect">
            <a:avLst/>
          </a:prstGeom>
          <a:solidFill>
            <a:srgbClr val="9FA5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4889520" y="178920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72525"/>
                </a:solidFill>
                <a:effectLst/>
                <a:uFillTx/>
                <a:latin typeface="Bitter"/>
                <a:ea typeface="Bitter"/>
              </a:rPr>
              <a:t>Google Calendar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9"/>
          <p:cNvSpPr/>
          <p:nvPr/>
        </p:nvSpPr>
        <p:spPr>
          <a:xfrm>
            <a:off x="6882480" y="1668600"/>
            <a:ext cx="2120040" cy="567360"/>
          </a:xfrm>
          <a:prstGeom prst="rect">
            <a:avLst/>
          </a:prstGeom>
          <a:solidFill>
            <a:srgbClr val="9FA58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7009560" y="178920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272525"/>
                </a:solidFill>
                <a:effectLst/>
                <a:uFillTx/>
                <a:latin typeface="Bitter"/>
                <a:ea typeface="Bitter"/>
              </a:rPr>
              <a:t>Outlook Calendar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1"/>
          <p:cNvSpPr/>
          <p:nvPr/>
        </p:nvSpPr>
        <p:spPr>
          <a:xfrm>
            <a:off x="521280" y="2237040"/>
            <a:ext cx="8480880" cy="567360"/>
          </a:xfrm>
          <a:prstGeom prst="rect">
            <a:avLst/>
          </a:prstGeom>
          <a:solidFill>
            <a:schemeClr val="bg2">
              <a:lumMod val="10000"/>
              <a:alpha val="4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646200" y="23576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Тип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приложения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2769120" y="23576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Десктопное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4889520" y="23576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Веб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+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мобильное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7009560" y="23576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Веб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+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десктоп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5" name="Shape 16"/>
          <p:cNvSpPr/>
          <p:nvPr/>
        </p:nvSpPr>
        <p:spPr>
          <a:xfrm>
            <a:off x="521280" y="280512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646200" y="29257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Офлайн-работа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7" name="Text 18"/>
          <p:cNvSpPr/>
          <p:nvPr/>
        </p:nvSpPr>
        <p:spPr>
          <a:xfrm>
            <a:off x="2769120" y="29257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4889520" y="29257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требуется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интернет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7009560" y="29257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синхронизация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0" name="Shape 21"/>
          <p:cNvSpPr/>
          <p:nvPr/>
        </p:nvSpPr>
        <p:spPr>
          <a:xfrm>
            <a:off x="521280" y="3373560"/>
            <a:ext cx="8480880" cy="5673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solidFill>
              <a:schemeClr val="bg2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646200" y="34945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Регистрация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2769120" y="34945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нужна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4889520" y="34945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Нужен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Google-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аккаунт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7009560" y="34945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Нужен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MS-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аккаунт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5" name="Shape 26"/>
          <p:cNvSpPr/>
          <p:nvPr/>
        </p:nvSpPr>
        <p:spPr>
          <a:xfrm>
            <a:off x="521280" y="394164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646200" y="40622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Синхронизация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2769120" y="40622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локальный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файл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8" name="Text 29"/>
          <p:cNvSpPr/>
          <p:nvPr/>
        </p:nvSpPr>
        <p:spPr>
          <a:xfrm>
            <a:off x="4889520" y="40622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облако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19" name="Text 30"/>
          <p:cNvSpPr/>
          <p:nvPr/>
        </p:nvSpPr>
        <p:spPr>
          <a:xfrm>
            <a:off x="7009560" y="40622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облако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0" name="Shape 27"/>
          <p:cNvSpPr/>
          <p:nvPr/>
        </p:nvSpPr>
        <p:spPr>
          <a:xfrm>
            <a:off x="521280" y="4509720"/>
            <a:ext cx="8480880" cy="5673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646200" y="46310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Повторяющиеся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события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2" name="Text 33"/>
          <p:cNvSpPr/>
          <p:nvPr/>
        </p:nvSpPr>
        <p:spPr>
          <a:xfrm>
            <a:off x="2769120" y="46310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3" name="Text 34"/>
          <p:cNvSpPr/>
          <p:nvPr/>
        </p:nvSpPr>
        <p:spPr>
          <a:xfrm>
            <a:off x="4889520" y="46310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4" name="Text 35"/>
          <p:cNvSpPr/>
          <p:nvPr/>
        </p:nvSpPr>
        <p:spPr>
          <a:xfrm>
            <a:off x="7009560" y="46310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5" name="Shape 28"/>
          <p:cNvSpPr/>
          <p:nvPr/>
        </p:nvSpPr>
        <p:spPr>
          <a:xfrm>
            <a:off x="521280" y="507816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7"/>
          <p:cNvSpPr/>
          <p:nvPr/>
        </p:nvSpPr>
        <p:spPr>
          <a:xfrm>
            <a:off x="646200" y="51991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Напоминания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2769120" y="51991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8" name="Text 39"/>
          <p:cNvSpPr/>
          <p:nvPr/>
        </p:nvSpPr>
        <p:spPr>
          <a:xfrm>
            <a:off x="4889520" y="519912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29" name="Text 40"/>
          <p:cNvSpPr/>
          <p:nvPr/>
        </p:nvSpPr>
        <p:spPr>
          <a:xfrm>
            <a:off x="7009560" y="519912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0" name="Shape 29"/>
          <p:cNvSpPr/>
          <p:nvPr/>
        </p:nvSpPr>
        <p:spPr>
          <a:xfrm>
            <a:off x="521280" y="5646240"/>
            <a:ext cx="8480880" cy="56736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42"/>
          <p:cNvSpPr/>
          <p:nvPr/>
        </p:nvSpPr>
        <p:spPr>
          <a:xfrm>
            <a:off x="646200" y="576756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Приглашение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участников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2" name="Text 43"/>
          <p:cNvSpPr/>
          <p:nvPr/>
        </p:nvSpPr>
        <p:spPr>
          <a:xfrm>
            <a:off x="2769120" y="576756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Нет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3" name="Text 44"/>
          <p:cNvSpPr/>
          <p:nvPr/>
        </p:nvSpPr>
        <p:spPr>
          <a:xfrm>
            <a:off x="4889520" y="576756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4" name="Text 45"/>
          <p:cNvSpPr/>
          <p:nvPr/>
        </p:nvSpPr>
        <p:spPr>
          <a:xfrm>
            <a:off x="7009560" y="576756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521280" y="621504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47"/>
          <p:cNvSpPr/>
          <p:nvPr/>
        </p:nvSpPr>
        <p:spPr>
          <a:xfrm>
            <a:off x="646200" y="63356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Хранение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данных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7" name="Text 48"/>
          <p:cNvSpPr/>
          <p:nvPr/>
        </p:nvSpPr>
        <p:spPr>
          <a:xfrm>
            <a:off x="2769120" y="63356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Локальный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JSON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8" name="Text 49"/>
          <p:cNvSpPr/>
          <p:nvPr/>
        </p:nvSpPr>
        <p:spPr>
          <a:xfrm>
            <a:off x="4889520" y="633564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Сервера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Google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39" name="Text 50"/>
          <p:cNvSpPr/>
          <p:nvPr/>
        </p:nvSpPr>
        <p:spPr>
          <a:xfrm>
            <a:off x="7009560" y="633564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Сервера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MS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0" name="Shape 31"/>
          <p:cNvSpPr/>
          <p:nvPr/>
        </p:nvSpPr>
        <p:spPr>
          <a:xfrm>
            <a:off x="521280" y="6782760"/>
            <a:ext cx="8480880" cy="893880"/>
          </a:xfrm>
          <a:prstGeom prst="rect">
            <a:avLst/>
          </a:prstGeom>
          <a:solidFill>
            <a:srgbClr val="000000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52"/>
          <p:cNvSpPr/>
          <p:nvPr/>
        </p:nvSpPr>
        <p:spPr>
          <a:xfrm>
            <a:off x="646200" y="690408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Стоимость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2" name="Text 53"/>
          <p:cNvSpPr/>
          <p:nvPr/>
        </p:nvSpPr>
        <p:spPr>
          <a:xfrm>
            <a:off x="2769120" y="690408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Бесплатно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3" name="Text 54"/>
          <p:cNvSpPr/>
          <p:nvPr/>
        </p:nvSpPr>
        <p:spPr>
          <a:xfrm>
            <a:off x="4889520" y="6904080"/>
            <a:ext cx="1865880" cy="65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Бесплатно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/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Платно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(Workspace)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4" name="Text 55"/>
          <p:cNvSpPr/>
          <p:nvPr/>
        </p:nvSpPr>
        <p:spPr>
          <a:xfrm>
            <a:off x="7009560" y="690408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Платно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(Microsoft 365)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5" name="Shape 32"/>
          <p:cNvSpPr/>
          <p:nvPr/>
        </p:nvSpPr>
        <p:spPr>
          <a:xfrm>
            <a:off x="521280" y="7678080"/>
            <a:ext cx="8480880" cy="567360"/>
          </a:xfrm>
          <a:prstGeom prst="rect">
            <a:avLst/>
          </a:prstGeom>
          <a:solidFill>
            <a:srgbClr val="FFFFFF">
              <a:alpha val="4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7"/>
          <p:cNvSpPr/>
          <p:nvPr/>
        </p:nvSpPr>
        <p:spPr>
          <a:xfrm>
            <a:off x="646200" y="779868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Сложность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освоения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7" name="Text 58"/>
          <p:cNvSpPr/>
          <p:nvPr/>
        </p:nvSpPr>
        <p:spPr>
          <a:xfrm>
            <a:off x="2769120" y="779868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Низкая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8" name="Text 59"/>
          <p:cNvSpPr/>
          <p:nvPr/>
        </p:nvSpPr>
        <p:spPr>
          <a:xfrm>
            <a:off x="4889520" y="7798680"/>
            <a:ext cx="234216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Средняя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49" name="Text 60"/>
          <p:cNvSpPr/>
          <p:nvPr/>
        </p:nvSpPr>
        <p:spPr>
          <a:xfrm>
            <a:off x="7009560" y="7798680"/>
            <a:ext cx="234432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Высокая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50" name="Text 61"/>
          <p:cNvSpPr/>
          <p:nvPr/>
        </p:nvSpPr>
        <p:spPr>
          <a:xfrm>
            <a:off x="516600" y="8465400"/>
            <a:ext cx="8967240" cy="32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23000"/>
              </a:lnSpc>
              <a:tabLst>
                <a:tab pos="0" algn="l"/>
              </a:tabLst>
            </a:pP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Таблица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выделяет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отличие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нашего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продукта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—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автономность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и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простота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в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обмен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на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отсутствие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облачных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функций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 и </a:t>
            </a:r>
            <a:r>
              <a:rPr lang="en-US" sz="900" b="0" u="none" strike="noStrike" dirty="0" err="1">
                <a:effectLst/>
                <a:uFillTx/>
                <a:latin typeface="Bitter"/>
                <a:ea typeface="Bitter"/>
              </a:rPr>
              <a:t>синхронизации</a:t>
            </a:r>
            <a:r>
              <a:rPr lang="en-US" sz="900" b="0" u="none" strike="noStrike" dirty="0">
                <a:effectLst/>
                <a:uFillTx/>
                <a:latin typeface="Bitter"/>
                <a:ea typeface="Bitter"/>
              </a:rPr>
              <a:t>.</a:t>
            </a:r>
            <a:endParaRPr lang="en-US" sz="900" b="0" u="none" strike="noStrike" dirty="0"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5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Freeform 2"/>
          <p:cNvSpPr/>
          <p:nvPr/>
        </p:nvSpPr>
        <p:spPr>
          <a:xfrm>
            <a:off x="7680600" y="6400440"/>
            <a:ext cx="2617200" cy="2617200"/>
          </a:xfrm>
          <a:custGeom>
            <a:avLst/>
            <a:gdLst>
              <a:gd name="textAreaLeft" fmla="*/ 0 w 2617200"/>
              <a:gd name="textAreaRight" fmla="*/ 2617560 w 2617200"/>
              <a:gd name="textAreaTop" fmla="*/ 0 h 2617200"/>
              <a:gd name="textAreaBottom" fmla="*/ 2617560 h 2617200"/>
            </a:gdLst>
            <a:ahLst/>
            <a:cxnLst/>
            <a:rect l="textAreaLeft" t="textAreaTop" r="textAreaRight" b="textAreaBottom"/>
            <a:pathLst>
              <a:path w="2617478" h="2617478">
                <a:moveTo>
                  <a:pt x="0" y="0"/>
                </a:moveTo>
                <a:lnTo>
                  <a:pt x="2617478" y="0"/>
                </a:lnTo>
                <a:lnTo>
                  <a:pt x="2617478" y="2617478"/>
                </a:lnTo>
                <a:lnTo>
                  <a:pt x="0" y="26174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Freeform 3"/>
          <p:cNvSpPr/>
          <p:nvPr/>
        </p:nvSpPr>
        <p:spPr>
          <a:xfrm>
            <a:off x="535680" y="6742800"/>
            <a:ext cx="1904760" cy="325080"/>
          </a:xfrm>
          <a:custGeom>
            <a:avLst/>
            <a:gdLst>
              <a:gd name="textAreaLeft" fmla="*/ 0 w 1904760"/>
              <a:gd name="textAreaRight" fmla="*/ 1905120 w 1904760"/>
              <a:gd name="textAreaTop" fmla="*/ 0 h 325080"/>
              <a:gd name="textAreaBottom" fmla="*/ 325440 h 325080"/>
            </a:gdLst>
            <a:ahLst/>
            <a:cxnLst/>
            <a:rect l="textAreaLeft" t="textAreaTop" r="textAreaRight" b="textAreaBottom"/>
            <a:pathLst>
              <a:path w="1905000" h="325582">
                <a:moveTo>
                  <a:pt x="0" y="0"/>
                </a:moveTo>
                <a:lnTo>
                  <a:pt x="1905000" y="0"/>
                </a:lnTo>
                <a:lnTo>
                  <a:pt x="1905000" y="325582"/>
                </a:lnTo>
                <a:lnTo>
                  <a:pt x="0" y="3255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53" name="Group 4"/>
          <p:cNvGrpSpPr/>
          <p:nvPr/>
        </p:nvGrpSpPr>
        <p:grpSpPr>
          <a:xfrm>
            <a:off x="2972160" y="6868080"/>
            <a:ext cx="1607040" cy="1644480"/>
            <a:chOff x="2972160" y="6868080"/>
            <a:chExt cx="1607040" cy="1644480"/>
          </a:xfrm>
        </p:grpSpPr>
        <p:sp>
          <p:nvSpPr>
            <p:cNvPr id="254" name="Freeform 5"/>
            <p:cNvSpPr/>
            <p:nvPr/>
          </p:nvSpPr>
          <p:spPr>
            <a:xfrm>
              <a:off x="2972160" y="69055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TextBox 6"/>
            <p:cNvSpPr/>
            <p:nvPr/>
          </p:nvSpPr>
          <p:spPr>
            <a:xfrm>
              <a:off x="2972160" y="686808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256" name="Group 7"/>
          <p:cNvGrpSpPr/>
          <p:nvPr/>
        </p:nvGrpSpPr>
        <p:grpSpPr>
          <a:xfrm>
            <a:off x="8989200" y="3921120"/>
            <a:ext cx="1607040" cy="1644840"/>
            <a:chOff x="8989200" y="3921120"/>
            <a:chExt cx="1607040" cy="1644840"/>
          </a:xfrm>
        </p:grpSpPr>
        <p:sp>
          <p:nvSpPr>
            <p:cNvPr id="257" name="Freeform 8"/>
            <p:cNvSpPr/>
            <p:nvPr/>
          </p:nvSpPr>
          <p:spPr>
            <a:xfrm>
              <a:off x="8989200" y="3958920"/>
              <a:ext cx="1607040" cy="1607040"/>
            </a:xfrm>
            <a:custGeom>
              <a:avLst/>
              <a:gdLst>
                <a:gd name="textAreaLeft" fmla="*/ 0 w 1607040"/>
                <a:gd name="textAreaRight" fmla="*/ 1607400 w 1607040"/>
                <a:gd name="textAreaTop" fmla="*/ 0 h 1607040"/>
                <a:gd name="textAreaBottom" fmla="*/ 1607400 h 1607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4E4E4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TextBox 9"/>
            <p:cNvSpPr/>
            <p:nvPr/>
          </p:nvSpPr>
          <p:spPr>
            <a:xfrm>
              <a:off x="8989200" y="3921120"/>
              <a:ext cx="1607040" cy="1644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6280" tIns="26280" rIns="26280" bIns="26280" anchor="ctr">
              <a:noAutofit/>
            </a:bodyPr>
            <a:lstStyle/>
            <a:p>
              <a:pPr algn="ctr" defTabSz="914400">
                <a:lnSpc>
                  <a:spcPts val="1386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259" name="Freeform 10"/>
          <p:cNvSpPr/>
          <p:nvPr/>
        </p:nvSpPr>
        <p:spPr>
          <a:xfrm>
            <a:off x="4269600" y="71697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Freeform 11"/>
          <p:cNvSpPr/>
          <p:nvPr/>
        </p:nvSpPr>
        <p:spPr>
          <a:xfrm>
            <a:off x="9222840" y="3765960"/>
            <a:ext cx="985680" cy="539280"/>
          </a:xfrm>
          <a:custGeom>
            <a:avLst/>
            <a:gdLst>
              <a:gd name="textAreaLeft" fmla="*/ 0 w 985680"/>
              <a:gd name="textAreaRight" fmla="*/ 986040 w 985680"/>
              <a:gd name="textAreaTop" fmla="*/ 0 h 539280"/>
              <a:gd name="textAreaBottom" fmla="*/ 539640 h 539280"/>
            </a:gdLst>
            <a:ahLst/>
            <a:cxnLst/>
            <a:rect l="textAreaLeft" t="textAreaTop" r="textAreaRight" b="textAreaBottom"/>
            <a:pathLst>
              <a:path w="986000" h="539611">
                <a:moveTo>
                  <a:pt x="0" y="0"/>
                </a:moveTo>
                <a:lnTo>
                  <a:pt x="986000" y="0"/>
                </a:lnTo>
                <a:lnTo>
                  <a:pt x="986000" y="539611"/>
                </a:lnTo>
                <a:lnTo>
                  <a:pt x="0" y="539611"/>
                </a:lnTo>
                <a:lnTo>
                  <a:pt x="0" y="0"/>
                </a:lnTo>
                <a:close/>
              </a:path>
            </a:pathLst>
          </a:custGeom>
          <a:blipFill rotWithShape="0"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12"/>
          <p:cNvSpPr/>
          <p:nvPr/>
        </p:nvSpPr>
        <p:spPr>
          <a:xfrm>
            <a:off x="1886400" y="4496040"/>
            <a:ext cx="5751360" cy="48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034"/>
              </a:lnSpc>
            </a:pPr>
            <a:r>
              <a:rPr lang="en-US" sz="2880" b="1" u="none" strike="noStrike">
                <a:solidFill>
                  <a:srgbClr val="2E2C2B"/>
                </a:solidFill>
                <a:effectLst/>
                <a:uFillTx/>
                <a:latin typeface="Heebo Bold"/>
                <a:ea typeface="Heebo Bold"/>
              </a:rPr>
              <a:t>СПАСИБО ЗА ВНИМАНИЕ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957</Words>
  <Application>Microsoft Office PowerPoint</Application>
  <PresentationFormat>Произвольный</PresentationFormat>
  <Paragraphs>203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4" baseType="lpstr">
      <vt:lpstr>Outfit Bold</vt:lpstr>
      <vt:lpstr>Mukti</vt:lpstr>
      <vt:lpstr>Symbol</vt:lpstr>
      <vt:lpstr>OpenSymbol</vt:lpstr>
      <vt:lpstr>Arial</vt:lpstr>
      <vt:lpstr>Calibri</vt:lpstr>
      <vt:lpstr>Bitter</vt:lpstr>
      <vt:lpstr>Wingdings</vt:lpstr>
      <vt:lpstr>Heebo</vt:lpstr>
      <vt:lpstr>Times New Roman</vt:lpstr>
      <vt:lpstr>Heebo Bold</vt:lpstr>
      <vt:lpstr>Heebo Heavy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Хасанов Даниэль</dc:title>
  <dc:subject/>
  <dc:creator/>
  <dc:description/>
  <cp:lastModifiedBy>Иван Соловьев</cp:lastModifiedBy>
  <cp:revision>3</cp:revision>
  <dcterms:created xsi:type="dcterms:W3CDTF">2006-08-16T00:00:00Z</dcterms:created>
  <dcterms:modified xsi:type="dcterms:W3CDTF">2026-06-17T18:11:28Z</dcterms:modified>
  <dc:identifier>DAHM2KWAWQk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