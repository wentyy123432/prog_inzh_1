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9" r:id="rId7"/>
    <p:sldId id="263" r:id="rId8"/>
    <p:sldId id="267" r:id="rId9"/>
    <p:sldId id="272" r:id="rId10"/>
    <p:sldId id="264" r:id="rId11"/>
    <p:sldId id="265" r:id="rId12"/>
  </p:sldIdLst>
  <p:sldSz cx="14630400" cy="8229600"/>
  <p:notesSz cx="8229600" cy="14630400"/>
  <p:embeddedFontLst>
    <p:embeddedFont>
      <p:font typeface="Arimo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Quattrocento" panose="02020502030000000404" pitchFamily="18" charset="0"/>
      <p:regular r:id="rId19"/>
      <p:bold r:id="rId20"/>
    </p:embeddedFont>
    <p:embeddedFont>
      <p:font typeface="Tempus Sans ITC" panose="04020404030D07020202" pitchFamily="82" charset="0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BDE4"/>
    <a:srgbClr val="FBEEFC"/>
    <a:srgbClr val="FCE8FA"/>
    <a:srgbClr val="F3D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F6198A-FDF5-42B1-8612-A0F832011655}" v="28" dt="2026-06-16T13:56:07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Соловьев" userId="3880307c31b29da0" providerId="LiveId" clId="{94A3B0DD-9F3A-4CBF-9208-14CFCDF07CD5}"/>
    <pc:docChg chg="custSel delSld modSld modMainMaster">
      <pc:chgData name="Иван Соловьев" userId="3880307c31b29da0" providerId="LiveId" clId="{94A3B0DD-9F3A-4CBF-9208-14CFCDF07CD5}" dt="2026-06-16T13:57:19.519" v="127" actId="207"/>
      <pc:docMkLst>
        <pc:docMk/>
      </pc:docMkLst>
      <pc:sldChg chg="setBg">
        <pc:chgData name="Иван Соловьев" userId="3880307c31b29da0" providerId="LiveId" clId="{94A3B0DD-9F3A-4CBF-9208-14CFCDF07CD5}" dt="2026-06-16T13:56:07.544" v="123"/>
        <pc:sldMkLst>
          <pc:docMk/>
          <pc:sldMk cId="0" sldId="256"/>
        </pc:sldMkLst>
      </pc:sldChg>
      <pc:sldChg chg="del">
        <pc:chgData name="Иван Соловьев" userId="3880307c31b29da0" providerId="LiveId" clId="{94A3B0DD-9F3A-4CBF-9208-14CFCDF07CD5}" dt="2026-06-16T13:42:24.746" v="0" actId="2696"/>
        <pc:sldMkLst>
          <pc:docMk/>
          <pc:sldMk cId="0" sldId="262"/>
        </pc:sldMkLst>
      </pc:sldChg>
      <pc:sldChg chg="modSp mod">
        <pc:chgData name="Иван Соловьев" userId="3880307c31b29da0" providerId="LiveId" clId="{94A3B0DD-9F3A-4CBF-9208-14CFCDF07CD5}" dt="2026-06-16T13:57:19.519" v="127" actId="207"/>
        <pc:sldMkLst>
          <pc:docMk/>
          <pc:sldMk cId="0" sldId="263"/>
        </pc:sldMkLst>
        <pc:spChg chg="mod">
          <ac:chgData name="Иван Соловьев" userId="3880307c31b29da0" providerId="LiveId" clId="{94A3B0DD-9F3A-4CBF-9208-14CFCDF07CD5}" dt="2026-06-16T13:57:19.519" v="127" actId="207"/>
          <ac:spMkLst>
            <pc:docMk/>
            <pc:sldMk cId="0" sldId="263"/>
            <ac:spMk id="7" creationId="{00000000-0000-0000-0000-000000000000}"/>
          </ac:spMkLst>
        </pc:spChg>
      </pc:sldChg>
      <pc:sldChg chg="modSp mod">
        <pc:chgData name="Иван Соловьев" userId="3880307c31b29da0" providerId="LiveId" clId="{94A3B0DD-9F3A-4CBF-9208-14CFCDF07CD5}" dt="2026-06-16T13:47:27.381" v="47" actId="20577"/>
        <pc:sldMkLst>
          <pc:docMk/>
          <pc:sldMk cId="0" sldId="264"/>
        </pc:sldMkLst>
        <pc:spChg chg="mod">
          <ac:chgData name="Иван Соловьев" userId="3880307c31b29da0" providerId="LiveId" clId="{94A3B0DD-9F3A-4CBF-9208-14CFCDF07CD5}" dt="2026-06-16T13:47:27.381" v="47" actId="20577"/>
          <ac:spMkLst>
            <pc:docMk/>
            <pc:sldMk cId="0" sldId="264"/>
            <ac:spMk id="2" creationId="{00000000-0000-0000-0000-000000000000}"/>
          </ac:spMkLst>
        </pc:spChg>
      </pc:sldChg>
      <pc:sldChg chg="delSp modSp mod">
        <pc:chgData name="Иван Соловьев" userId="3880307c31b29da0" providerId="LiveId" clId="{94A3B0DD-9F3A-4CBF-9208-14CFCDF07CD5}" dt="2026-06-16T13:55:15.441" v="95" actId="1076"/>
        <pc:sldMkLst>
          <pc:docMk/>
          <pc:sldMk cId="0" sldId="265"/>
        </pc:sldMkLst>
        <pc:spChg chg="mod">
          <ac:chgData name="Иван Соловьев" userId="3880307c31b29da0" providerId="LiveId" clId="{94A3B0DD-9F3A-4CBF-9208-14CFCDF07CD5}" dt="2026-06-16T13:55:15.441" v="95" actId="1076"/>
          <ac:spMkLst>
            <pc:docMk/>
            <pc:sldMk cId="0" sldId="265"/>
            <ac:spMk id="3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3:27.923" v="72" actId="21"/>
          <ac:spMkLst>
            <pc:docMk/>
            <pc:sldMk cId="0" sldId="265"/>
            <ac:spMk id="4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4:07.521" v="79" actId="21"/>
          <ac:spMkLst>
            <pc:docMk/>
            <pc:sldMk cId="0" sldId="265"/>
            <ac:spMk id="5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3:29.563" v="73" actId="21"/>
          <ac:spMkLst>
            <pc:docMk/>
            <pc:sldMk cId="0" sldId="265"/>
            <ac:spMk id="6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3:58.726" v="75" actId="21"/>
          <ac:spMkLst>
            <pc:docMk/>
            <pc:sldMk cId="0" sldId="265"/>
            <ac:spMk id="7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3:56.108" v="74" actId="21"/>
          <ac:spMkLst>
            <pc:docMk/>
            <pc:sldMk cId="0" sldId="265"/>
            <ac:spMk id="8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4:05.887" v="78" actId="21"/>
          <ac:spMkLst>
            <pc:docMk/>
            <pc:sldMk cId="0" sldId="265"/>
            <ac:spMk id="9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4:10.082" v="80" actId="21"/>
          <ac:spMkLst>
            <pc:docMk/>
            <pc:sldMk cId="0" sldId="265"/>
            <ac:spMk id="10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4:00.832" v="76" actId="21"/>
          <ac:spMkLst>
            <pc:docMk/>
            <pc:sldMk cId="0" sldId="265"/>
            <ac:spMk id="11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4:04.030" v="77" actId="21"/>
          <ac:spMkLst>
            <pc:docMk/>
            <pc:sldMk cId="0" sldId="265"/>
            <ac:spMk id="12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4:13.957" v="82" actId="21"/>
          <ac:spMkLst>
            <pc:docMk/>
            <pc:sldMk cId="0" sldId="265"/>
            <ac:spMk id="13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4:12.139" v="81" actId="21"/>
          <ac:spMkLst>
            <pc:docMk/>
            <pc:sldMk cId="0" sldId="265"/>
            <ac:spMk id="14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4:18.248" v="83" actId="21"/>
          <ac:spMkLst>
            <pc:docMk/>
            <pc:sldMk cId="0" sldId="265"/>
            <ac:spMk id="15" creationId="{00000000-0000-0000-0000-000000000000}"/>
          </ac:spMkLst>
        </pc:spChg>
        <pc:spChg chg="del">
          <ac:chgData name="Иван Соловьев" userId="3880307c31b29da0" providerId="LiveId" clId="{94A3B0DD-9F3A-4CBF-9208-14CFCDF07CD5}" dt="2026-06-16T13:54:20.576" v="84" actId="21"/>
          <ac:spMkLst>
            <pc:docMk/>
            <pc:sldMk cId="0" sldId="265"/>
            <ac:spMk id="16" creationId="{00000000-0000-0000-0000-000000000000}"/>
          </ac:spMkLst>
        </pc:spChg>
      </pc:sldChg>
      <pc:sldChg chg="modSp mod">
        <pc:chgData name="Иван Соловьев" userId="3880307c31b29da0" providerId="LiveId" clId="{94A3B0DD-9F3A-4CBF-9208-14CFCDF07CD5}" dt="2026-06-16T13:57:02.780" v="125" actId="207"/>
        <pc:sldMkLst>
          <pc:docMk/>
          <pc:sldMk cId="0" sldId="267"/>
        </pc:sldMkLst>
        <pc:spChg chg="mod">
          <ac:chgData name="Иван Соловьев" userId="3880307c31b29da0" providerId="LiveId" clId="{94A3B0DD-9F3A-4CBF-9208-14CFCDF07CD5}" dt="2026-06-16T13:57:02.780" v="125" actId="207"/>
          <ac:spMkLst>
            <pc:docMk/>
            <pc:sldMk cId="0" sldId="267"/>
            <ac:spMk id="7" creationId="{00000000-0000-0000-0000-000000000000}"/>
          </ac:spMkLst>
        </pc:spChg>
      </pc:sldChg>
      <pc:sldChg chg="modSp mod">
        <pc:chgData name="Иван Соловьев" userId="3880307c31b29da0" providerId="LiveId" clId="{94A3B0DD-9F3A-4CBF-9208-14CFCDF07CD5}" dt="2026-06-16T13:57:07.671" v="126" actId="207"/>
        <pc:sldMkLst>
          <pc:docMk/>
          <pc:sldMk cId="2813274666" sldId="272"/>
        </pc:sldMkLst>
        <pc:spChg chg="mod">
          <ac:chgData name="Иван Соловьев" userId="3880307c31b29da0" providerId="LiveId" clId="{94A3B0DD-9F3A-4CBF-9208-14CFCDF07CD5}" dt="2026-06-16T13:57:07.671" v="126" actId="207"/>
          <ac:spMkLst>
            <pc:docMk/>
            <pc:sldMk cId="2813274666" sldId="272"/>
            <ac:spMk id="7" creationId="{5BC3B6A6-32F6-4280-0F03-8E1D9BBD1973}"/>
          </ac:spMkLst>
        </pc:spChg>
      </pc:sldChg>
      <pc:sldMasterChg chg="setBg modSldLayout">
        <pc:chgData name="Иван Соловьев" userId="3880307c31b29da0" providerId="LiveId" clId="{94A3B0DD-9F3A-4CBF-9208-14CFCDF07CD5}" dt="2026-06-16T13:56:07.544" v="123"/>
        <pc:sldMasterMkLst>
          <pc:docMk/>
          <pc:sldMasterMk cId="0" sldId="2147483648"/>
        </pc:sldMasterMkLst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Иван Соловьев" userId="3880307c31b29da0" providerId="LiveId" clId="{94A3B0DD-9F3A-4CBF-9208-14CFCDF07CD5}" dt="2026-06-16T13:56:07.544" v="12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758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0177E-DB75-74BA-BD30-D3867DB2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79C65-CA33-4865-24CA-DFE9BEDF3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D457C-E1D4-71F3-29EA-2B09DFAA0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97591-2157-145F-41BE-D4BBBC464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4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60000"/>
                <a:lumOff val="40000"/>
              </a:schemeClr>
            </a:gs>
            <a:gs pos="56000">
              <a:schemeClr val="bg2">
                <a:lumMod val="75000"/>
              </a:schemeClr>
            </a:gs>
            <a:gs pos="100000">
              <a:srgbClr val="FCE8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36988" y="2530263"/>
            <a:ext cx="7168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Проект 1: Простые</a:t>
            </a:r>
            <a:r>
              <a:rPr lang="en-US" sz="445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 заметки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36989" y="390220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Лёгкое настольное приложение для создания и управления текстовыми заметками — без лишнего, только нужное.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734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Зачем этот проект?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638943" y="25044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Проблема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38943" y="3085624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Современные редакторы перегружены функциями. Пользователям нужен быстрый и простой инструмент — для идей, задач и заметок.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38943" y="4764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Решение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38943" y="5345192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Times New Roman" panose="02020603050405020304" pitchFamily="18" charset="0"/>
                <a:ea typeface="Arimo" pitchFamily="34" charset="-122"/>
                <a:cs typeface="Times New Roman" panose="02020603050405020304" pitchFamily="18" charset="0"/>
              </a:rPr>
              <a:t>Минималистичное приложение с интуитивным интерфейсом, которое запускается мгновенно и не мешает думать.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63A481-76E2-456B-A54A-F80726B83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60897"/>
            <a:ext cx="3705742" cy="4191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Задачи проекта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GUI-интерфейс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Реализовать главное окно с текстовым полем и меню навигации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428548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Работа с файлами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Создание, открытие и сохранение текстовых заметок (.txt)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Меню и навигация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Опции: Создать, Открыть, Сохранить как, Выход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Онлайн-справка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Переход</a:t>
            </a:r>
            <a:r>
              <a:rPr lang="en-US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к </a:t>
            </a:r>
            <a:r>
              <a:rPr lang="ru-RU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справочной</a:t>
            </a:r>
            <a:r>
              <a:rPr lang="en-US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</a:t>
            </a:r>
            <a:r>
              <a:rPr lang="ru-RU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странице</a:t>
            </a:r>
            <a:r>
              <a:rPr lang="en-US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</a:t>
            </a:r>
            <a:r>
              <a:rPr lang="ru-RU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через</a:t>
            </a:r>
            <a:r>
              <a:rPr lang="en-US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</a:t>
            </a:r>
            <a:r>
              <a:rPr lang="ru-RU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браузер</a:t>
            </a:r>
            <a:r>
              <a:rPr lang="en-US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 </a:t>
            </a:r>
            <a:r>
              <a:rPr lang="ru-RU" sz="1750" dirty="0">
                <a:solidFill>
                  <a:srgbClr val="2A2742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одним кликом</a:t>
            </a:r>
            <a:endParaRPr lang="en-US" sz="1750" dirty="0">
              <a:latin typeface="Arimo" panose="020B0604020202020204" charset="0"/>
              <a:ea typeface="Arimo" panose="020B0604020202020204" charset="0"/>
              <a:cs typeface="Arimo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95019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Функциональные возможности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39328"/>
            <a:ext cx="34030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Основной</a:t>
            </a:r>
            <a:r>
              <a:rPr lang="en-US" sz="22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 </a:t>
            </a:r>
            <a:r>
              <a:rPr lang="ru-RU" sz="22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функционал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2860119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848808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Создание новой заметки — очистка текстового поля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4039553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4028242"/>
            <a:ext cx="5507593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Открытие и редактирование файлов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5184934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0906" y="5173623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Сохранение заметки на диск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6330315"/>
            <a:ext cx="340162" cy="340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0906" y="6319004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Вызов справки через браузер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7599521" y="2239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Структура меню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7599521" y="2848808"/>
            <a:ext cx="3008948" cy="2184440"/>
          </a:xfrm>
          <a:prstGeom prst="roundRect">
            <a:avLst>
              <a:gd name="adj" fmla="val 4361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8"/>
          <p:cNvSpPr/>
          <p:nvPr/>
        </p:nvSpPr>
        <p:spPr>
          <a:xfrm>
            <a:off x="7856815" y="3106103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Опции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856815" y="3687247"/>
            <a:ext cx="24943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Создать · Открыть · Сохранить как · Выход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10835283" y="2848808"/>
            <a:ext cx="3008948" cy="2184440"/>
          </a:xfrm>
          <a:prstGeom prst="roundRect">
            <a:avLst>
              <a:gd name="adj" fmla="val 4361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1"/>
          <p:cNvSpPr/>
          <p:nvPr/>
        </p:nvSpPr>
        <p:spPr>
          <a:xfrm>
            <a:off x="11092577" y="3106103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Справка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1092577" y="3687247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Получить справку — открывает веб-страницу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27829" y="658178"/>
            <a:ext cx="7688342" cy="129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Нефункциональные требования</a:t>
            </a:r>
            <a:endParaRPr lang="en-US" sz="4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27829" y="2243733"/>
            <a:ext cx="7688342" cy="1188958"/>
          </a:xfrm>
          <a:prstGeom prst="roundRect">
            <a:avLst>
              <a:gd name="adj" fmla="val 734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943332" y="2459236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ru-RU" sz="20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Простота</a:t>
            </a:r>
            <a:endParaRPr lang="en-US" sz="2000" dirty="0">
              <a:latin typeface="Tempus Sans ITC" panose="04020404030D07020202" pitchFamily="82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43332" y="2898338"/>
            <a:ext cx="72573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Интуитивный интерфейс — освоение без инструкций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7829" y="3623310"/>
            <a:ext cx="7688342" cy="1188958"/>
          </a:xfrm>
          <a:prstGeom prst="roundRect">
            <a:avLst>
              <a:gd name="adj" fmla="val 734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943332" y="3838813"/>
            <a:ext cx="2929295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ru-RU" sz="20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Производительность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43332" y="4277916"/>
            <a:ext cx="72573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Мгновенный запуск, работа без задержек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7829" y="5002887"/>
            <a:ext cx="7688342" cy="1188958"/>
          </a:xfrm>
          <a:prstGeom prst="roundRect">
            <a:avLst>
              <a:gd name="adj" fmla="val 734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943332" y="5218390"/>
            <a:ext cx="2599372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Надёжность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43332" y="5657493"/>
            <a:ext cx="72573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Корректная обработка ошибок при работе с файлами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7829" y="6382464"/>
            <a:ext cx="7688342" cy="1188958"/>
          </a:xfrm>
          <a:prstGeom prst="roundRect">
            <a:avLst>
              <a:gd name="adj" fmla="val 7346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943332" y="6597968"/>
            <a:ext cx="3257193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Кроссплатформенность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43332" y="7037070"/>
            <a:ext cx="725733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Windows, Linux, macOS при наличии Python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50438"/>
            <a:ext cx="11423451" cy="686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ru-RU" sz="44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Сравнение: архитектура и технологии</a:t>
            </a:r>
            <a:endParaRPr lang="en-US" sz="4320" dirty="0"/>
          </a:p>
        </p:txBody>
      </p:sp>
      <p:sp>
        <p:nvSpPr>
          <p:cNvPr id="3" name="Text 1"/>
          <p:cNvSpPr/>
          <p:nvPr/>
        </p:nvSpPr>
        <p:spPr>
          <a:xfrm>
            <a:off x="769025" y="1762720"/>
            <a:ext cx="1382387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Детальное сопоставление технического стека «Простых заметок» и стандартного Блокнота Windows.</a:t>
            </a:r>
            <a:endParaRPr lang="en-US" sz="1680" dirty="0"/>
          </a:p>
        </p:txBody>
      </p:sp>
      <p:sp>
        <p:nvSpPr>
          <p:cNvPr id="4" name="Shape 2"/>
          <p:cNvSpPr/>
          <p:nvPr/>
        </p:nvSpPr>
        <p:spPr>
          <a:xfrm>
            <a:off x="769025" y="2348271"/>
            <a:ext cx="13092350" cy="3730229"/>
          </a:xfrm>
          <a:prstGeom prst="roundRect">
            <a:avLst>
              <a:gd name="adj" fmla="val 247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 sz="2880"/>
          </a:p>
        </p:txBody>
      </p:sp>
      <p:sp>
        <p:nvSpPr>
          <p:cNvPr id="5" name="Shape 3"/>
          <p:cNvSpPr/>
          <p:nvPr/>
        </p:nvSpPr>
        <p:spPr>
          <a:xfrm>
            <a:off x="776645" y="2355890"/>
            <a:ext cx="13077110" cy="6166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sz="2880"/>
          </a:p>
        </p:txBody>
      </p:sp>
      <p:sp>
        <p:nvSpPr>
          <p:cNvPr id="6" name="Text 4"/>
          <p:cNvSpPr/>
          <p:nvPr/>
        </p:nvSpPr>
        <p:spPr>
          <a:xfrm>
            <a:off x="996554" y="2491144"/>
            <a:ext cx="421147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Критерий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4923473" y="2491144"/>
            <a:ext cx="486144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«Простые заметки»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9500354" y="2491144"/>
            <a:ext cx="48652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Блокнот Windows</a:t>
            </a:r>
            <a:endParaRPr lang="en-US" sz="1680" dirty="0"/>
          </a:p>
        </p:txBody>
      </p:sp>
      <p:sp>
        <p:nvSpPr>
          <p:cNvPr id="9" name="Shape 7"/>
          <p:cNvSpPr/>
          <p:nvPr/>
        </p:nvSpPr>
        <p:spPr>
          <a:xfrm>
            <a:off x="776645" y="2972514"/>
            <a:ext cx="13077110" cy="6166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2880"/>
          </a:p>
        </p:txBody>
      </p:sp>
      <p:sp>
        <p:nvSpPr>
          <p:cNvPr id="10" name="Text 8"/>
          <p:cNvSpPr/>
          <p:nvPr/>
        </p:nvSpPr>
        <p:spPr>
          <a:xfrm>
            <a:off x="996554" y="3107770"/>
            <a:ext cx="421147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Язык программирования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4923473" y="3107770"/>
            <a:ext cx="486144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(интерпретируемый)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9500354" y="3107770"/>
            <a:ext cx="48652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/ C++ (компилируемый)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776645" y="3589139"/>
            <a:ext cx="13077110" cy="6166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sz="2880"/>
          </a:p>
        </p:txBody>
      </p:sp>
      <p:sp>
        <p:nvSpPr>
          <p:cNvPr id="14" name="Text 12"/>
          <p:cNvSpPr/>
          <p:nvPr/>
        </p:nvSpPr>
        <p:spPr>
          <a:xfrm>
            <a:off x="996554" y="3724394"/>
            <a:ext cx="421147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Графический интерфейс</a:t>
            </a:r>
            <a:endParaRPr lang="en-US" sz="1680" dirty="0"/>
          </a:p>
        </p:txBody>
      </p:sp>
      <p:sp>
        <p:nvSpPr>
          <p:cNvPr id="15" name="Text 13"/>
          <p:cNvSpPr/>
          <p:nvPr/>
        </p:nvSpPr>
        <p:spPr>
          <a:xfrm>
            <a:off x="4923473" y="3724394"/>
            <a:ext cx="486144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Tkinter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9500354" y="3724394"/>
            <a:ext cx="48652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Win32 API / WinUI</a:t>
            </a:r>
            <a:endParaRPr lang="en-US" sz="1680" dirty="0"/>
          </a:p>
        </p:txBody>
      </p:sp>
      <p:sp>
        <p:nvSpPr>
          <p:cNvPr id="17" name="Shape 15"/>
          <p:cNvSpPr/>
          <p:nvPr/>
        </p:nvSpPr>
        <p:spPr>
          <a:xfrm>
            <a:off x="776645" y="4205764"/>
            <a:ext cx="13077110" cy="624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2880"/>
          </a:p>
        </p:txBody>
      </p:sp>
      <p:sp>
        <p:nvSpPr>
          <p:cNvPr id="18" name="Text 16"/>
          <p:cNvSpPr/>
          <p:nvPr/>
        </p:nvSpPr>
        <p:spPr>
          <a:xfrm>
            <a:off x="996554" y="4341019"/>
            <a:ext cx="421147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Кроссплатформенность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4923473" y="4341019"/>
            <a:ext cx="4861442" cy="353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Windows, Linux, macOS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9500354" y="4341019"/>
            <a:ext cx="4865251" cy="353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Только Windows</a:t>
            </a:r>
            <a:endParaRPr lang="en-US" sz="1680" dirty="0"/>
          </a:p>
        </p:txBody>
      </p:sp>
      <p:sp>
        <p:nvSpPr>
          <p:cNvPr id="21" name="Shape 19"/>
          <p:cNvSpPr/>
          <p:nvPr/>
        </p:nvSpPr>
        <p:spPr>
          <a:xfrm>
            <a:off x="776645" y="4830008"/>
            <a:ext cx="13077110" cy="61662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 sz="2880"/>
          </a:p>
        </p:txBody>
      </p:sp>
      <p:sp>
        <p:nvSpPr>
          <p:cNvPr id="22" name="Text 20"/>
          <p:cNvSpPr/>
          <p:nvPr/>
        </p:nvSpPr>
        <p:spPr>
          <a:xfrm>
            <a:off x="996554" y="4965264"/>
            <a:ext cx="421147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Потребление ресурсов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4923473" y="4965264"/>
            <a:ext cx="4861442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Низкое (зависит от интерпретатора)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9500354" y="4965264"/>
            <a:ext cx="4865251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Минимальное</a:t>
            </a:r>
            <a:endParaRPr lang="en-US" sz="1680" dirty="0"/>
          </a:p>
        </p:txBody>
      </p:sp>
      <p:sp>
        <p:nvSpPr>
          <p:cNvPr id="25" name="Shape 23"/>
          <p:cNvSpPr/>
          <p:nvPr/>
        </p:nvSpPr>
        <p:spPr>
          <a:xfrm>
            <a:off x="776645" y="5446634"/>
            <a:ext cx="13077110" cy="6242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 sz="2880"/>
          </a:p>
        </p:txBody>
      </p:sp>
      <p:sp>
        <p:nvSpPr>
          <p:cNvPr id="26" name="Text 24"/>
          <p:cNvSpPr/>
          <p:nvPr/>
        </p:nvSpPr>
        <p:spPr>
          <a:xfrm>
            <a:off x="996554" y="5581888"/>
            <a:ext cx="4211478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Расширяемость кода</a:t>
            </a:r>
            <a:endParaRPr lang="en-US" sz="1680" dirty="0"/>
          </a:p>
        </p:txBody>
      </p:sp>
      <p:sp>
        <p:nvSpPr>
          <p:cNvPr id="27" name="Text 25"/>
          <p:cNvSpPr/>
          <p:nvPr/>
        </p:nvSpPr>
        <p:spPr>
          <a:xfrm>
            <a:off x="4923473" y="5581888"/>
            <a:ext cx="4861442" cy="353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Высокая (простота Python)</a:t>
            </a:r>
            <a:endParaRPr lang="en-US" sz="1680" dirty="0"/>
          </a:p>
        </p:txBody>
      </p:sp>
      <p:sp>
        <p:nvSpPr>
          <p:cNvPr id="28" name="Text 26"/>
          <p:cNvSpPr/>
          <p:nvPr/>
        </p:nvSpPr>
        <p:spPr>
          <a:xfrm>
            <a:off x="9500354" y="5581888"/>
            <a:ext cx="4865251" cy="353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168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r>
              <a:rPr lang="en-US" sz="168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Низкая (глубокие знания API)</a:t>
            </a:r>
            <a:endParaRPr lang="en-US" sz="1680" dirty="0"/>
          </a:p>
        </p:txBody>
      </p:sp>
      <p:sp>
        <p:nvSpPr>
          <p:cNvPr id="29" name="Shape 27"/>
          <p:cNvSpPr/>
          <p:nvPr/>
        </p:nvSpPr>
        <p:spPr>
          <a:xfrm>
            <a:off x="769025" y="6317933"/>
            <a:ext cx="13092350" cy="1261229"/>
          </a:xfrm>
          <a:prstGeom prst="roundRect">
            <a:avLst>
              <a:gd name="adj" fmla="val 731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 sz="288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" y="6651664"/>
            <a:ext cx="274558" cy="21967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82923" y="6585586"/>
            <a:ext cx="1215878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168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Ключевое преимущество:</a:t>
            </a:r>
            <a:r>
              <a:rPr lang="en-US" sz="168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«Простые заметки» запускаются на любой ОС, а чистая кодовая база без внешних зависимостей упрощает поддержку и развитие проекта.</a:t>
            </a:r>
            <a:endParaRPr lang="en-US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068" y="588407"/>
            <a:ext cx="8770501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0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Создание и сохранение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3068" y="6484978"/>
            <a:ext cx="13164264" cy="1156098"/>
          </a:xfrm>
          <a:prstGeom prst="roundRect">
            <a:avLst>
              <a:gd name="adj" fmla="val 2718"/>
            </a:avLst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00" y="6776680"/>
            <a:ext cx="261819" cy="2094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3749" y="6720483"/>
            <a:ext cx="12274154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</a:pPr>
            <a:endParaRPr lang="en-US" sz="1600" dirty="0"/>
          </a:p>
        </p:txBody>
      </p:sp>
      <p:pic>
        <p:nvPicPr>
          <p:cNvPr id="6" name="Рисунок 5" descr="Изображение выглядит как текст, компьютер, программное обеспечение, электроника&#10;&#10;Автоматически созданное описание">
            <a:extLst>
              <a:ext uri="{FF2B5EF4-FFF2-40B4-BE49-F238E27FC236}">
                <a16:creationId xmlns:a16="http://schemas.microsoft.com/office/drawing/2014/main" id="{3F333397-CD64-BCD4-141D-67C89C18E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429" y="1694430"/>
            <a:ext cx="6505575" cy="4409743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компьютер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7CA8AF49-4524-6560-7A82-05E6752F5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319" y="1694430"/>
            <a:ext cx="4081114" cy="44097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441006-77B1-7A8A-0357-DDDE4034E3AE}"/>
              </a:ext>
            </a:extLst>
          </p:cNvPr>
          <p:cNvSpPr txBox="1"/>
          <p:nvPr/>
        </p:nvSpPr>
        <p:spPr>
          <a:xfrm>
            <a:off x="1627832" y="6658458"/>
            <a:ext cx="12060067" cy="42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</a:pPr>
            <a:r>
              <a:rPr lang="ru-RU" sz="18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Функция сохраняет записанные текст в файле формата</a:t>
            </a:r>
            <a:r>
              <a:rPr lang="en-US" sz="18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r>
              <a:rPr lang="ru-RU" sz="1800" dirty="0">
                <a:solidFill>
                  <a:srgbClr val="FFFFFF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359" y="646034"/>
            <a:ext cx="7385208" cy="649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ru-RU" sz="44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Открытие файла</a:t>
            </a:r>
            <a:endParaRPr lang="en-US" sz="4080" dirty="0"/>
          </a:p>
        </p:txBody>
      </p:sp>
      <p:sp>
        <p:nvSpPr>
          <p:cNvPr id="7" name="Shape 5"/>
          <p:cNvSpPr/>
          <p:nvPr/>
        </p:nvSpPr>
        <p:spPr>
          <a:xfrm>
            <a:off x="772359" y="6330793"/>
            <a:ext cx="13085683" cy="1252776"/>
          </a:xfrm>
          <a:prstGeom prst="roundRect">
            <a:avLst>
              <a:gd name="adj" fmla="val 2642"/>
            </a:avLst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82" y="6642022"/>
            <a:ext cx="275749" cy="2206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9354" y="6589275"/>
            <a:ext cx="12148066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68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Функция использует стандартный диалог выбора файла и загружает содержимое </a:t>
            </a:r>
            <a:r>
              <a:rPr lang="en-US" sz="1680" dirty="0">
                <a:solidFill>
                  <a:srgbClr val="FFFFFF"/>
                </a:solidFill>
                <a:highlight>
                  <a:srgbClr val="1F40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r>
              <a:rPr lang="en-US" sz="168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в текстовое поле приложения.</a:t>
            </a:r>
            <a:endParaRPr lang="en-US" sz="1680" dirty="0"/>
          </a:p>
        </p:txBody>
      </p:sp>
      <p:pic>
        <p:nvPicPr>
          <p:cNvPr id="11" name="Рисунок 10" descr="Изображение выглядит как текст, компьютер, программное обеспечение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02520D88-17BC-A9A9-D7F4-CCF5B73699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1" t="2189" b="-621"/>
          <a:stretch/>
        </p:blipFill>
        <p:spPr>
          <a:xfrm>
            <a:off x="4311510" y="1553526"/>
            <a:ext cx="6130267" cy="3740943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компьютер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A6B1DB65-4196-9421-B227-389E44620D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64" t="1483" r="4705" b="2117"/>
          <a:stretch/>
        </p:blipFill>
        <p:spPr>
          <a:xfrm>
            <a:off x="772359" y="1553526"/>
            <a:ext cx="3283711" cy="3740943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компьютер, снимок экрана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0A8FC590-7FEA-7AE9-E80A-D290A96661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89" t="2223"/>
          <a:stretch/>
        </p:blipFill>
        <p:spPr>
          <a:xfrm>
            <a:off x="10697218" y="1553526"/>
            <a:ext cx="3355262" cy="37409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C82F5-B6FB-94BD-E4AE-3D30EF0E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FF05E7-5E14-D85C-A86F-12C80671349D}"/>
              </a:ext>
            </a:extLst>
          </p:cNvPr>
          <p:cNvSpPr/>
          <p:nvPr/>
        </p:nvSpPr>
        <p:spPr>
          <a:xfrm>
            <a:off x="733068" y="588407"/>
            <a:ext cx="8770501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000" b="1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Справка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BC3B6A6-32F6-4280-0F03-8E1D9BBD1973}"/>
              </a:ext>
            </a:extLst>
          </p:cNvPr>
          <p:cNvSpPr/>
          <p:nvPr/>
        </p:nvSpPr>
        <p:spPr>
          <a:xfrm>
            <a:off x="733068" y="6484978"/>
            <a:ext cx="13164264" cy="1156098"/>
          </a:xfrm>
          <a:prstGeom prst="roundRect">
            <a:avLst>
              <a:gd name="adj" fmla="val 2718"/>
            </a:avLst>
          </a:prstGeom>
          <a:solidFill>
            <a:schemeClr val="bg2">
              <a:lumMod val="25000"/>
            </a:schemeClr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3E46123-4EFA-0A86-D782-F384C6C01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00" y="6776680"/>
            <a:ext cx="261819" cy="209430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DBB36CAD-5DAD-322F-FCF8-5034CFA9ADEB}"/>
              </a:ext>
            </a:extLst>
          </p:cNvPr>
          <p:cNvSpPr/>
          <p:nvPr/>
        </p:nvSpPr>
        <p:spPr>
          <a:xfrm>
            <a:off x="1413749" y="6720483"/>
            <a:ext cx="12274154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5000"/>
              </a:lnSpc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22B62-57B1-7A7D-612F-E2A29E5830EB}"/>
              </a:ext>
            </a:extLst>
          </p:cNvPr>
          <p:cNvSpPr txBox="1"/>
          <p:nvPr/>
        </p:nvSpPr>
        <p:spPr>
          <a:xfrm>
            <a:off x="1627836" y="6776680"/>
            <a:ext cx="12060067" cy="42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</a:pPr>
            <a:r>
              <a:rPr lang="ru-RU" sz="18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клик в меню </a:t>
            </a:r>
            <a:r>
              <a:rPr lang="en-US" sz="18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</a:t>
            </a:r>
            <a:r>
              <a:rPr lang="ru-RU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</a:t>
            </a:r>
            <a:r>
              <a:rPr lang="ru-RU" sz="18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правка</a:t>
            </a:r>
            <a:r>
              <a:rPr lang="en-US" sz="18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» — и </a:t>
            </a:r>
            <a:r>
              <a:rPr lang="ru-RU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онлайн-документация открывается в браузере пользователя.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14" name="Рисунок 13" descr="Изображение выглядит как текст, снимок экрана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8318235C-04FA-9883-4A96-72271DA1F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595" y="2550984"/>
            <a:ext cx="8565948" cy="2655155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снимок экрана, компьютер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8364A8F2-4D3A-F078-CE7C-73B6DBC69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500" y="1742236"/>
            <a:ext cx="3852146" cy="427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274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5157"/>
            <a:ext cx="61970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Что</a:t>
            </a:r>
            <a:r>
              <a:rPr lang="en-US" sz="445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 </a:t>
            </a:r>
            <a:r>
              <a:rPr lang="ru-RU" sz="445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реализовано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17564"/>
            <a:ext cx="13042821" cy="35758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37794" y="3709688"/>
            <a:ext cx="2099232" cy="70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2319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</a:t>
            </a:r>
            <a:endParaRPr lang="en-US" sz="2200" b="1" dirty="0">
              <a:solidFill>
                <a:srgbClr val="2319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366066" y="4515873"/>
            <a:ext cx="1970959" cy="84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ТЗ, роли и координация команды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026164" y="3808500"/>
            <a:ext cx="1970959" cy="35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Разработка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26164" y="4261784"/>
            <a:ext cx="1970959" cy="564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GUI и логика на Python/Tkinter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736454" y="3709688"/>
            <a:ext cx="1970959" cy="70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Тестирование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36454" y="4515873"/>
            <a:ext cx="1970959" cy="84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Проверка функций и обработка ошибок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421648" y="3173276"/>
            <a:ext cx="1970959" cy="70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Готовое приложение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421648" y="3979462"/>
            <a:ext cx="1970959" cy="84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Кроссплатформенный редактор заметок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24851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Полный цикл от постановки задачи до работающего кроссплатформенного приложения — с чётким разделением ролей и командной координацией.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72711" y="3716694"/>
            <a:ext cx="7684977" cy="796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6000" b="1" dirty="0">
                <a:solidFill>
                  <a:srgbClr val="23197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Спасибо за внимание!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396</Words>
  <Application>Microsoft Office PowerPoint</Application>
  <PresentationFormat>Произвольный</PresentationFormat>
  <Paragraphs>89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Arimo</vt:lpstr>
      <vt:lpstr>Times New Roman</vt:lpstr>
      <vt:lpstr>Arial</vt:lpstr>
      <vt:lpstr>Consolas</vt:lpstr>
      <vt:lpstr>Quattrocento</vt:lpstr>
      <vt:lpstr>Inter</vt:lpstr>
      <vt:lpstr>Outfit Light</vt:lpstr>
      <vt:lpstr>Tempus Sans ITC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Иван Соловьев</cp:lastModifiedBy>
  <cp:revision>18</cp:revision>
  <dcterms:created xsi:type="dcterms:W3CDTF">2026-04-07T11:00:25Z</dcterms:created>
  <dcterms:modified xsi:type="dcterms:W3CDTF">2026-06-16T13:57:21Z</dcterms:modified>
</cp:coreProperties>
</file>